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30" Type="http://schemas.openxmlformats.org/officeDocument/2006/relationships/viewProps" Target="viewProps.xml" /><Relationship Id="rId2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2" Type="http://schemas.openxmlformats.org/officeDocument/2006/relationships/tableStyles" Target="tableStyles.xml" /><Relationship Id="rId3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Dyna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Distributed Version Control for Resource Catalogs</a:t>
            </a:r>
            <a:br/>
            <a:br/>
            <a:r>
              <a:rPr/>
              <a:t>SDMF Engineering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2025-12-31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Dyna</a:t>
            </a:r>
          </a:p>
          <a:p>
            <a:pPr lvl="0" indent="0" marL="0">
              <a:buNone/>
            </a:pPr>
            <a:r>
              <a:rPr b="1"/>
              <a:t>Distributed Version Control for Resource Catalogs</a:t>
            </a:r>
          </a:p>
          <a:p>
            <a:pPr lvl="0" indent="0" marL="0">
              <a:buNone/>
            </a:pPr>
            <a:r>
              <a:rPr/>
              <a:t>A Pijul-inspired system for collaborative JSON resource editing with S3 storage, changeset-based versioning, and an elfo-rs actor server.</a:t>
            </a:r>
          </a:p>
          <a:p>
            <a:pPr lvl="0" indent="0" marL="0">
              <a:buNone/>
            </a:pPr>
            <a:r>
              <a:rPr i="1"/>
              <a:t>From monolithic pain to distributed gain.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SDMF: A Massive Catalog of 40,000+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</a:t>
            </a:r>
            <a:r>
              <a:rPr b="1"/>
              <a:t>Semantic Data Modeling Framework</a:t>
            </a:r>
            <a:r>
              <a:rPr/>
              <a:t> became the backbone of enterprise data architecture — a living catalog of interconnected JSON resources.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Scale</a:t>
            </a:r>
          </a:p>
          <a:p>
            <a:pPr lvl="0"/>
            <a:r>
              <a:rPr b="1"/>
              <a:t>40,000+</a:t>
            </a:r>
            <a:r>
              <a:rPr/>
              <a:t> JSON resources</a:t>
            </a:r>
          </a:p>
          <a:p>
            <a:pPr lvl="0"/>
            <a:r>
              <a:rPr b="1"/>
              <a:t>Hundreds</a:t>
            </a:r>
            <a:r>
              <a:rPr/>
              <a:t> of namespaces</a:t>
            </a:r>
          </a:p>
          <a:p>
            <a:pPr lvl="0"/>
            <a:r>
              <a:rPr/>
              <a:t>Entities, connectors, threat models</a:t>
            </a:r>
          </a:p>
          <a:p>
            <a:pPr lvl="0"/>
            <a:r>
              <a:rPr/>
              <a:t>Semantic mappings and schemas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Resource Types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635500" y="1625600"/>
          <a:ext cx="4038600" cy="2959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300"/>
                <a:gridCol w="2019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Count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Entity Definitions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~12,000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Connector Configs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~8,000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Threat Models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~5,000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Semantic Mappings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~15,000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Users Reported Critical Friction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pain was real and growing</a:t>
            </a:r>
          </a:p>
          <a:p>
            <a:pPr lvl="0" indent="-342900" marL="342900">
              <a:buAutoNum type="arabicPeriod"/>
            </a:pPr>
            <a:r>
              <a:rPr b="1"/>
              <a:t>Minutes-long startup</a:t>
            </a:r>
            <a:r>
              <a:rPr/>
              <a:t> — loading 40K resources into memory at launch</a:t>
            </a:r>
          </a:p>
          <a:p>
            <a:pPr lvl="0" indent="-342900" marL="342900">
              <a:buAutoNum type="arabicPeriod"/>
            </a:pPr>
            <a:r>
              <a:rPr b="1"/>
              <a:t>Destructive overwrites</a:t>
            </a:r>
            <a:r>
              <a:rPr/>
              <a:t> — no version history, last-write-wins</a:t>
            </a:r>
          </a:p>
          <a:p>
            <a:pPr lvl="0" indent="-342900" marL="342900">
              <a:buAutoNum type="arabicPeriod"/>
            </a:pPr>
            <a:r>
              <a:rPr b="1"/>
              <a:t>No concurrent editing</a:t>
            </a:r>
            <a:r>
              <a:rPr/>
              <a:t> — single-user lock on the entire catalog</a:t>
            </a:r>
          </a:p>
          <a:p>
            <a:pPr lvl="0" indent="-342900" marL="342900">
              <a:buAutoNum type="arabicPeriod"/>
            </a:pPr>
            <a:r>
              <a:rPr b="1"/>
              <a:t>No branching</a:t>
            </a:r>
            <a:r>
              <a:rPr/>
              <a:t> — experimental changes polluted production</a:t>
            </a:r>
          </a:p>
          <a:p>
            <a:pPr lvl="0" indent="-342900" marL="342900">
              <a:buAutoNum type="arabicPeriod"/>
            </a:pPr>
            <a:r>
              <a:rPr b="1"/>
              <a:t>Excessive memory pressure</a:t>
            </a:r>
            <a:r>
              <a:rPr/>
              <a:t> — entire catalog resident in RAM</a:t>
            </a:r>
          </a:p>
          <a:p>
            <a:pPr lvl="0" indent="0" marL="1270000">
              <a:buNone/>
            </a:pPr>
            <a:r>
              <a:rPr sz="2000"/>
              <a:t>“We lost three days of work because someone overwrote the connector namespace. There was no way to recover.”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Vision: Git-Like Version Control for JSON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 envisioned a system where every change is tracked, every branch is isolated, and every client stays in sync.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Core Principles</a:t>
            </a:r>
          </a:p>
          <a:p>
            <a:pPr lvl="0"/>
            <a:r>
              <a:rPr b="1"/>
              <a:t>Immutable changesets</a:t>
            </a:r>
            <a:r>
              <a:rPr/>
              <a:t> — content-addressed, tamper-proof</a:t>
            </a:r>
          </a:p>
          <a:p>
            <a:pPr lvl="0"/>
            <a:r>
              <a:rPr b="1"/>
              <a:t>Channels</a:t>
            </a:r>
            <a:r>
              <a:rPr/>
              <a:t> — isolated branches for safe experimentation</a:t>
            </a:r>
          </a:p>
          <a:p>
            <a:pPr lvl="0"/>
            <a:r>
              <a:rPr b="1"/>
              <a:t>Distributed sync</a:t>
            </a:r>
            <a:r>
              <a:rPr/>
              <a:t> — push/pull like Git, but for JSON</a:t>
            </a:r>
          </a:p>
          <a:p>
            <a:pPr lvl="0"/>
            <a:r>
              <a:rPr b="1"/>
              <a:t>Lazy loading</a:t>
            </a:r>
            <a:r>
              <a:rPr/>
              <a:t> — on-demand, not all-at-once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Inspired By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635500" y="1625600"/>
          <a:ext cx="4038600" cy="2959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300"/>
                <a:gridCol w="2019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Borrowed Concept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Pijul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Patch commutativity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Git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Content-addressable storage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CouchDB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JSON-native documents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Nix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Reproducible builds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Data Model: Resources → Patches → Changesets → Channels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Four layers, each building on the last — from raw JSON documents to named branches.</a:t>
            </a:r>
          </a:p>
          <a:p>
            <a:pPr lvl="0" indent="0" marL="0">
              <a:buNone/>
            </a:pPr>
          </a:p>
        </p:txBody>
      </p:sp>
      <p:pic>
        <p:nvPicPr>
          <p:cNvPr descr="dyna_files/figure-pptx/mermaid-figure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2171700"/>
            <a:ext cx="5105400" cy="444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4038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200"/>
                <a:gridCol w="1346200"/>
                <a:gridCol w="1346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Immutable?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Resource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UUID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(evolves)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Patch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SHA-256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Changeset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SHA-256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Channel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Name string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(HEAD moves)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RFC 6902 Operations</a:t>
            </a:r>
          </a:p>
          <a:p>
            <a:pPr lvl="0" indent="0">
              <a:buNone/>
            </a:pPr>
            <a:r>
              <a:rPr>
                <a:solidFill>
                  <a:srgbClr val="007020"/>
                </a:solidFill>
                <a:latin typeface="Courier"/>
              </a:rPr>
              <a:t>[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{</a:t>
            </a:r>
            <a:r>
              <a:rPr>
                <a:solidFill>
                  <a:srgbClr val="902000"/>
                </a:solidFill>
                <a:latin typeface="Courier"/>
              </a:rPr>
              <a:t>"op"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"replace"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"path"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"/role"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"value"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"admin"</a:t>
            </a:r>
            <a:r>
              <a:rPr>
                <a:solidFill>
                  <a:srgbClr val="06287E"/>
                </a:solidFill>
                <a:latin typeface="Courier"/>
              </a:rPr>
              <a:t>}</a:t>
            </a:r>
            <a:r>
              <a:rPr>
                <a:solidFill>
                  <a:srgbClr val="007020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{</a:t>
            </a:r>
            <a:r>
              <a:rPr>
                <a:solidFill>
                  <a:srgbClr val="902000"/>
                </a:solidFill>
                <a:latin typeface="Courier"/>
              </a:rPr>
              <a:t>"op"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"add"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"path"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"/permissions/-"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"value"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"write"</a:t>
            </a:r>
            <a:r>
              <a:rPr>
                <a:solidFill>
                  <a:srgbClr val="06287E"/>
                </a:solidFill>
                <a:latin typeface="Courier"/>
              </a:rPr>
              <a:t>}</a:t>
            </a:r>
            <a:r>
              <a:rPr>
                <a:solidFill>
                  <a:srgbClr val="007020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{</a:t>
            </a:r>
            <a:r>
              <a:rPr>
                <a:solidFill>
                  <a:srgbClr val="902000"/>
                </a:solidFill>
                <a:latin typeface="Courier"/>
              </a:rPr>
              <a:t>"op"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"remove"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"path"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"/deprecated"</a:t>
            </a:r>
            <a:r>
              <a:rPr>
                <a:solidFill>
                  <a:srgbClr val="06287E"/>
                </a:solidFill>
                <a:latin typeface="Courier"/>
              </a:rPr>
              <a:t>}</a:t>
            </a:r>
            <a:br/>
            <a:r>
              <a:rPr>
                <a:solidFill>
                  <a:srgbClr val="007020"/>
                </a:solidFill>
                <a:latin typeface="Courier"/>
              </a:rPr>
              <a:t>]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Architecture: One Protocol, Five Languages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Rust server at the center, with clients in Rust, Go, Python, WebAssembly, and Elm — all sharing the same REST + WebSocket protocol.</a:t>
            </a:r>
          </a:p>
          <a:p>
            <a:pPr lvl="0" indent="0" marL="0">
              <a:buNone/>
            </a:pPr>
          </a:p>
        </p:txBody>
      </p:sp>
      <p:pic>
        <p:nvPicPr>
          <p:cNvPr descr="dyna_files/figure-pptx/mermaid-figure-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962400" y="203200"/>
            <a:ext cx="43180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Actor-Based Server with S3 Persistence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server uses the </a:t>
            </a:r>
            <a:r>
              <a:rPr b="1"/>
              <a:t>elfo</a:t>
            </a:r>
            <a:r>
              <a:rPr/>
              <a:t> actor framework for fault isolation, clean message-passing, and structured concurrency.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Actor Hierarchy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25600"/>
          <a:ext cx="4038600" cy="2959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300"/>
                <a:gridCol w="2019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Responsibility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API Gateway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HTTP ↔ elfo bridge (axum)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Changeset Manager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Validation, channels, merge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Storage Actor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S3 I/O via </a:t>
                      </a:r>
                      <a:r>
                        <a:rPr>
                          <a:latin typeface="Courier"/>
                        </a:rPr>
                        <a:t>object_store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Notification Actor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WebSocket broadcast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Message Flow</a:t>
            </a:r>
          </a:p>
          <a:p>
            <a:pPr lvl="0" indent="0">
              <a:buNone/>
            </a:pPr>
            <a:r>
              <a:rPr>
                <a:latin typeface="Courier"/>
              </a:rPr>
              <a:t>HTTP → API Gateway → Changeset Manager → Storage Actor → S3
                                       ↘ Notification Actor → WebSocket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REST Endpoints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635500" y="1625600"/>
          <a:ext cx="4038600" cy="2959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300"/>
                <a:gridCol w="2019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Path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POST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/resources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GET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/resources/:id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PUT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/resources/:id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DELETE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/resources/:id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POST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/changesets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POST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/push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POST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/pull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POST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/clone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GET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/channels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POST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/channels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WS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/ws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Lazy Loading: Minutes → Milliseconds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Instead of loading 40,000 resources at startup, lazy clients fetch only metadata, materialise on-demand, cache locally, and receive real-time updates.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Traditional Loading</a:t>
            </a:r>
          </a:p>
          <a:p>
            <a:pPr lvl="0" indent="0">
              <a:buNone/>
            </a:pPr>
            <a:r>
              <a:rPr>
                <a:latin typeface="Courier"/>
              </a:rPr>
              <a:t>Startup: Load ALL 40K resources
         ├── Fetch from S3        ~45s
         ├── Deserialize JSON     ~30s
         ├── Build index          ~15s
         └── Ready                ~90s total
         Memory: ~2.4 GB resident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Lazy Loading</a:t>
            </a:r>
          </a:p>
          <a:p>
            <a:pPr lvl="0" indent="0">
              <a:buNone/>
            </a:pPr>
            <a:r>
              <a:rPr>
                <a:latin typeface="Courier"/>
              </a:rPr>
              <a:t>Startup: Connect + fetch metadata
         ├── WebSocket connect    ~50ms
         ├── List resource IDs    ~200ms
         └── Ready                ~250ms total
         Memory: ~12 MB baseline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On-Demand Materialisation</a:t>
            </a:r>
          </a:p>
          <a:p>
            <a:pPr lvl="0" indent="-342900" marL="342900">
              <a:buAutoNum type="arabicPeriod"/>
            </a:pPr>
            <a:r>
              <a:rPr/>
              <a:t>User requests resource by ID</a:t>
            </a:r>
          </a:p>
          <a:p>
            <a:pPr lvl="0" indent="-342900" marL="342900">
              <a:buAutoNum type="arabicPeriod"/>
            </a:pPr>
            <a:r>
              <a:rPr/>
              <a:t>Client fetches patches from server</a:t>
            </a:r>
          </a:p>
          <a:p>
            <a:pPr lvl="0" indent="-342900" marL="342900">
              <a:buAutoNum type="arabicPeriod"/>
            </a:pPr>
            <a:r>
              <a:rPr/>
              <a:t>Replays RFC 6902 operations</a:t>
            </a:r>
          </a:p>
          <a:p>
            <a:pPr lvl="0" indent="-342900" marL="342900">
              <a:buAutoNum type="arabicPeriod"/>
            </a:pPr>
            <a:r>
              <a:rPr/>
              <a:t>Caches materialised snapshot</a:t>
            </a:r>
          </a:p>
          <a:p>
            <a:pPr lvl="0" indent="-342900" marL="342900">
              <a:buAutoNum type="arabicPeriod"/>
            </a:pPr>
            <a:r>
              <a:rPr/>
              <a:t>Subsequent reads hit local cache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Cache Invalidation</a:t>
            </a:r>
          </a:p>
          <a:p>
            <a:pPr lvl="0"/>
            <a:r>
              <a:rPr/>
              <a:t>WebSocket push on changeset commit</a:t>
            </a:r>
          </a:p>
          <a:p>
            <a:pPr lvl="0"/>
            <a:r>
              <a:rPr/>
              <a:t>Client re-materialises affected resources</a:t>
            </a:r>
          </a:p>
          <a:p>
            <a:pPr lvl="0"/>
            <a:r>
              <a:rPr/>
              <a:t>Delivers </a:t>
            </a:r>
            <a:r>
              <a:rPr>
                <a:latin typeface="Courier"/>
              </a:rPr>
              <a:t>UpdateEvent</a:t>
            </a:r>
            <a:r>
              <a:rPr/>
              <a:t> with full metadata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Lazy Loaders in Four Languages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Identical semantics across Rust, Go, Python, and WebAssembly — connect, list, get, subscribe.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Rust (lazy-cat)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let</a:t>
            </a:r>
            <a:r>
              <a:rPr>
                <a:latin typeface="Courier"/>
              </a:rPr>
              <a:t> client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BC7A00"/>
                </a:solidFill>
                <a:latin typeface="Courier"/>
              </a:rPr>
              <a:t>LazyClient::</a:t>
            </a:r>
            <a:r>
              <a:rPr>
                <a:latin typeface="Courier"/>
              </a:rPr>
              <a:t>connect(url)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 b="1">
                <a:solidFill>
                  <a:srgbClr val="007020"/>
                </a:solidFill>
                <a:latin typeface="Courier"/>
              </a:rPr>
              <a:t>await</a:t>
            </a:r>
            <a:r>
              <a:rPr>
                <a:solidFill>
                  <a:srgbClr val="666666"/>
                </a:solidFill>
                <a:latin typeface="Courier"/>
              </a:rPr>
              <a:t>?;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let</a:t>
            </a:r>
            <a:r>
              <a:rPr>
                <a:latin typeface="Courier"/>
              </a:rPr>
              <a:t> ids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client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list_resources()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 b="1">
                <a:solidFill>
                  <a:srgbClr val="007020"/>
                </a:solidFill>
                <a:latin typeface="Courier"/>
              </a:rPr>
              <a:t>await</a:t>
            </a:r>
            <a:r>
              <a:rPr>
                <a:solidFill>
                  <a:srgbClr val="666666"/>
                </a:solidFill>
                <a:latin typeface="Courier"/>
              </a:rPr>
              <a:t>?;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let</a:t>
            </a:r>
            <a:r>
              <a:rPr>
                <a:latin typeface="Courier"/>
              </a:rPr>
              <a:t> resource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client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get_resource(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>
                <a:latin typeface="Courier"/>
              </a:rPr>
              <a:t>id)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 b="1">
                <a:solidFill>
                  <a:srgbClr val="007020"/>
                </a:solidFill>
                <a:latin typeface="Courier"/>
              </a:rPr>
              <a:t>await</a:t>
            </a:r>
            <a:r>
              <a:rPr>
                <a:solidFill>
                  <a:srgbClr val="666666"/>
                </a:solidFill>
                <a:latin typeface="Courier"/>
              </a:rPr>
              <a:t>?;</a:t>
            </a:r>
            <a:br/>
            <a:r>
              <a:rPr>
                <a:latin typeface="Courier"/>
              </a:rPr>
              <a:t>client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on_update(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event</a:t>
            </a:r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BC7A00"/>
                </a:solidFill>
                <a:latin typeface="Courier"/>
              </a:rPr>
              <a:t>println!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"Updated: {:?}"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event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affected_resources)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 b="1">
                <a:solidFill>
                  <a:srgbClr val="007020"/>
                </a:solidFill>
                <a:latin typeface="Courier"/>
              </a:rPr>
              <a:t>await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Go (lazy-go)</a:t>
            </a:r>
          </a:p>
          <a:p>
            <a:pPr lvl="0" indent="0">
              <a:buNone/>
            </a:pPr>
            <a:r>
              <a:rPr>
                <a:latin typeface="Courier"/>
              </a:rPr>
              <a:t>client </a:t>
            </a:r>
            <a:r>
              <a:rPr>
                <a:solidFill>
                  <a:srgbClr val="666666"/>
                </a:solidFill>
                <a:latin typeface="Courier"/>
              </a:rPr>
              <a:t>:=</a:t>
            </a:r>
            <a:r>
              <a:rPr>
                <a:latin typeface="Courier"/>
              </a:rPr>
              <a:t> lazydyna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NewClient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url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client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Connect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ctx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ids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_ </a:t>
            </a:r>
            <a:r>
              <a:rPr>
                <a:solidFill>
                  <a:srgbClr val="666666"/>
                </a:solidFill>
                <a:latin typeface="Courier"/>
              </a:rPr>
              <a:t>:=</a:t>
            </a:r>
            <a:r>
              <a:rPr>
                <a:latin typeface="Courier"/>
              </a:rPr>
              <a:t> client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ListResources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ctx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res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_ </a:t>
            </a:r>
            <a:r>
              <a:rPr>
                <a:solidFill>
                  <a:srgbClr val="666666"/>
                </a:solidFill>
                <a:latin typeface="Courier"/>
              </a:rPr>
              <a:t>:=</a:t>
            </a:r>
            <a:r>
              <a:rPr>
                <a:latin typeface="Courier"/>
              </a:rPr>
              <a:t> client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GetResource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ctx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id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client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OnUpdate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 b="1">
                <a:solidFill>
                  <a:srgbClr val="007020"/>
                </a:solidFill>
                <a:latin typeface="Courier"/>
              </a:rPr>
              <a:t>func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e UpdateEvent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fmt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Printf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"Updated: %v\n"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AffectedResources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Python (lazy-py)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async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with</a:t>
            </a:r>
            <a:r>
              <a:rPr>
                <a:latin typeface="Courier"/>
              </a:rPr>
              <a:t> LazyClient(url) </a:t>
            </a:r>
            <a:r>
              <a:rPr b="1">
                <a:solidFill>
                  <a:srgbClr val="00800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client:</a:t>
            </a:r>
            <a:br/>
            <a:r>
              <a:rPr>
                <a:latin typeface="Courier"/>
              </a:rPr>
              <a:t>    ids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client.list_resources()</a:t>
            </a:r>
            <a:br/>
            <a:r>
              <a:rPr>
                <a:latin typeface="Courier"/>
              </a:rPr>
              <a:t>    resource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client.get_resource(</a:t>
            </a:r>
            <a:r>
              <a:rPr>
                <a:solidFill>
                  <a:srgbClr val="008000"/>
                </a:solidFill>
                <a:latin typeface="Courier"/>
              </a:rPr>
              <a:t>id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async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event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client.updates():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BB6688"/>
                </a:solidFill>
                <a:latin typeface="Courier"/>
              </a:rPr>
              <a:t>f"Updated: 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event</a:t>
            </a:r>
            <a:r>
              <a:rPr>
                <a:solidFill>
                  <a:srgbClr val="4070A0"/>
                </a:solidFill>
                <a:latin typeface="Courier"/>
              </a:rPr>
              <a:t>.</a:t>
            </a:r>
            <a:r>
              <a:rPr>
                <a:latin typeface="Courier"/>
              </a:rPr>
              <a:t>affected_resources</a:t>
            </a:r>
            <a:r>
              <a:rPr>
                <a:solidFill>
                  <a:srgbClr val="4070A0"/>
                </a:solidFill>
                <a:latin typeface="Courier"/>
              </a:rPr>
              <a:t>}</a:t>
            </a:r>
            <a:r>
              <a:rPr>
                <a:solidFill>
                  <a:srgbClr val="BB6688"/>
                </a:solidFill>
                <a:latin typeface="Courier"/>
              </a:rPr>
              <a:t>"</a:t>
            </a:r>
            <a:r>
              <a:rPr>
                <a:latin typeface="Courier"/>
              </a:rPr>
              <a:t>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WASM (lazy-wasm)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const</a:t>
            </a:r>
            <a:r>
              <a:rPr>
                <a:latin typeface="Courier"/>
              </a:rPr>
              <a:t> client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await</a:t>
            </a:r>
            <a:r>
              <a:rPr>
                <a:latin typeface="Courier"/>
              </a:rPr>
              <a:t> LazyWasmClient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(url)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const</a:t>
            </a:r>
            <a:r>
              <a:rPr>
                <a:latin typeface="Courier"/>
              </a:rPr>
              <a:t> ids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client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list_resources</a:t>
            </a:r>
            <a:r>
              <a:rPr>
                <a:latin typeface="Courier"/>
              </a:rPr>
              <a:t>()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const</a:t>
            </a:r>
            <a:r>
              <a:rPr>
                <a:latin typeface="Courier"/>
              </a:rPr>
              <a:t> resource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client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get_resource</a:t>
            </a:r>
            <a:r>
              <a:rPr>
                <a:latin typeface="Courier"/>
              </a:rPr>
              <a:t>(id)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client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on_update</a:t>
            </a:r>
            <a:r>
              <a:rPr>
                <a:latin typeface="Courier"/>
              </a:rPr>
              <a:t>((</a:t>
            </a:r>
            <a:r>
              <a:rPr>
                <a:solidFill>
                  <a:srgbClr val="008000"/>
                </a:solidFill>
                <a:latin typeface="Courier"/>
              </a:rPr>
              <a:t>event</a:t>
            </a:r>
            <a:r>
              <a:rPr>
                <a:latin typeface="Courier"/>
              </a:rPr>
              <a:t>) </a:t>
            </a:r>
            <a:r>
              <a:rPr b="1">
                <a:solidFill>
                  <a:srgbClr val="007020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{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console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log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"Updated:"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event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7D9029"/>
                </a:solidFill>
                <a:latin typeface="Courier"/>
              </a:rPr>
              <a:t>affected_resources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})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Real-Time Collaboration via WebSocket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Changes propagate to all connected clients within milliseconds. Every client receives rich </a:t>
            </a:r>
            <a:r>
              <a:rPr>
                <a:latin typeface="Courier"/>
              </a:rPr>
              <a:t>UpdateEvent</a:t>
            </a:r>
            <a:r>
              <a:rPr/>
              <a:t> objects with full changeset metadata.</a:t>
            </a:r>
          </a:p>
          <a:p>
            <a:pPr lvl="0" indent="0" marL="0">
              <a:buNone/>
            </a:pPr>
          </a:p>
        </p:txBody>
      </p:sp>
      <p:pic>
        <p:nvPicPr>
          <p:cNvPr descr="dyna_files/figure-pptx/mermaid-figure-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876300"/>
            <a:ext cx="5105400" cy="3035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 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UpdateEvent Structure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"changeset_id"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"sha256:a1b2c3..."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"author"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"alice"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"channel"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"main"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"affected_resources"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7020"/>
                </a:solidFill>
                <a:latin typeface="Courier"/>
              </a:rPr>
              <a:t>[</a:t>
            </a:r>
            <a:r>
              <a:rPr>
                <a:solidFill>
                  <a:srgbClr val="4070A0"/>
                </a:solidFill>
                <a:latin typeface="Courier"/>
              </a:rPr>
              <a:t>"res-001"</a:t>
            </a:r>
            <a:r>
              <a:rPr>
                <a:solidFill>
                  <a:srgbClr val="007020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"res-042"</a:t>
            </a:r>
            <a:r>
              <a:rPr>
                <a:solidFill>
                  <a:srgbClr val="007020"/>
                </a:solidFill>
                <a:latin typeface="Courier"/>
              </a:rPr>
              <a:t>]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"operations_count"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06287E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902000"/>
                </a:solidFill>
                <a:latin typeface="Courier"/>
              </a:rPr>
              <a:t>"timestamp"</a:t>
            </a:r>
            <a:r>
              <a:rPr>
                <a:solidFill>
                  <a:srgbClr val="06287E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"2026-03-05T10:30:00Z"</a:t>
            </a:r>
            <a:br/>
            <a:r>
              <a:rPr>
                <a:solidFill>
                  <a:srgbClr val="06287E"/>
                </a:solidFill>
                <a:latin typeface="Courier"/>
              </a:rPr>
              <a:t>}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Browser UI: Elm + WebAssembly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Two browser applications for visual resource management — </a:t>
            </a:r>
            <a:r>
              <a:rPr b="1"/>
              <a:t>dyna-app</a:t>
            </a:r>
            <a:r>
              <a:rPr/>
              <a:t> for full CRUD editing and </a:t>
            </a:r>
            <a:r>
              <a:rPr b="1"/>
              <a:t>lazy-elm-demo</a:t>
            </a:r>
            <a:r>
              <a:rPr/>
              <a:t> for lazy-loading demonstration.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dyna-app (Full Editor)</a:t>
            </a:r>
          </a:p>
          <a:p>
            <a:pPr lvl="0"/>
            <a:r>
              <a:rPr/>
              <a:t>Elm 0.19 + WASM bridge via ports</a:t>
            </a:r>
          </a:p>
          <a:p>
            <a:pPr lvl="0"/>
            <a:r>
              <a:rPr/>
              <a:t>Create, read, update, delete resources</a:t>
            </a:r>
          </a:p>
          <a:p>
            <a:pPr lvl="0"/>
            <a:r>
              <a:rPr/>
              <a:t>Channel management (create, switch, promote)</a:t>
            </a:r>
          </a:p>
          <a:p>
            <a:pPr lvl="0"/>
            <a:r>
              <a:rPr/>
              <a:t>Changeset history and diff viewer</a:t>
            </a:r>
          </a:p>
          <a:p>
            <a:pPr lvl="0"/>
            <a:r>
              <a:rPr/>
              <a:t>Real-time sync via WebSocket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Architecture</a:t>
            </a:r>
          </a:p>
          <a:p>
            <a:pPr lvl="0" indent="0">
              <a:buNone/>
            </a:pPr>
            <a:r>
              <a:rPr>
                <a:latin typeface="Courier"/>
              </a:rPr>
              <a:t>Elm App ←→ Ports ←→ JS Bridge ←→ WASM Client
                                      ↕
                                 Dyna Server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lazy-elm-demo (Lazy Viewer)</a:t>
            </a:r>
          </a:p>
          <a:p>
            <a:pPr lvl="0"/>
            <a:r>
              <a:rPr/>
              <a:t>Two-panel layout with scrollable resource list</a:t>
            </a:r>
          </a:p>
          <a:p>
            <a:pPr lvl="0"/>
            <a:r>
              <a:rPr/>
              <a:t>JSON detail view with syntax highlighting</a:t>
            </a:r>
          </a:p>
          <a:p>
            <a:pPr lvl="0"/>
            <a:r>
              <a:rPr/>
              <a:t>Live update log with changeset metadata</a:t>
            </a:r>
          </a:p>
          <a:p>
            <a:pPr lvl="0"/>
            <a:r>
              <a:rPr/>
              <a:t>On-demand resource materialisation</a:t>
            </a:r>
          </a:p>
          <a:p>
            <a:pPr lvl="0"/>
            <a:r>
              <a:rPr/>
              <a:t>Minimal memory footprint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Key Features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635500" y="1625600"/>
          <a:ext cx="4038600" cy="2959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300"/>
                <a:gridCol w="2019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Implementation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Resource list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Scrollable, click-to-select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Detail view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Pretty-printed JSON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Live updates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Streaming event log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Lazy fetch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WASM </a:t>
                      </a:r>
                      <a:r>
                        <a:rPr>
                          <a:latin typeface="Courier"/>
                        </a:rPr>
                        <a:t>get_resource()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Reproducible Builds: One Nix Flake, 24+ Packages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entire ecosystem — server, CLI, clients, demos, OCI images — is built and deployed from a single </a:t>
            </a:r>
            <a:r>
              <a:rPr>
                <a:latin typeface="Courier"/>
              </a:rPr>
              <a:t>flake.nix</a:t>
            </a:r>
            <a:r>
              <a:rPr/>
              <a:t>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Package Matrix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25600"/>
          <a:ext cx="4038600" cy="2959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200"/>
                <a:gridCol w="1346200"/>
                <a:gridCol w="1346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Builder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dyna-core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Rust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crane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dyna-server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Rust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crane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dyna-cli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Rust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crane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dyna-wasm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Rust→WASM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wasm-pack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dyna-py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Rust→Python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maturin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dyna-go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buildGoModule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dyna-app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Elm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elmPackages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lazy-cat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Rust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crane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lazy-go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buildGoModule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lazy-py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Rust→Python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maturin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lazy-wasm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Rust→WASM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wasm-pack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lazy-elm-demo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Elm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elmPackages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Build Commands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Build everything</a:t>
            </a:r>
            <a:br/>
            <a:r>
              <a:rPr>
                <a:latin typeface="Courier"/>
              </a:rPr>
              <a:t>nix build .#all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Build specific package</a:t>
            </a:r>
            <a:br/>
            <a:r>
              <a:rPr>
                <a:latin typeface="Courier"/>
              </a:rPr>
              <a:t>nix build .#dyna-server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Run demo</a:t>
            </a:r>
            <a:br/>
            <a:r>
              <a:rPr>
                <a:latin typeface="Courier"/>
              </a:rPr>
              <a:t>nix run .#lazy-cat-demo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Development shell</a:t>
            </a:r>
            <a:br/>
            <a:r>
              <a:rPr>
                <a:latin typeface="Courier"/>
              </a:rPr>
              <a:t>nix develop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OCI image</a:t>
            </a:r>
            <a:br/>
            <a:r>
              <a:rPr>
                <a:latin typeface="Courier"/>
              </a:rPr>
              <a:t>nix build .#dyna-server-oci</a:t>
            </a:r>
            <a:br/>
            <a:r>
              <a:rPr>
                <a:latin typeface="Courier"/>
              </a:rPr>
              <a:t>docker load 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result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Guarantees</a:t>
            </a:r>
          </a:p>
          <a:p>
            <a:pPr lvl="0"/>
            <a:r>
              <a:rPr b="1"/>
              <a:t>Hermetic</a:t>
            </a:r>
            <a:r>
              <a:rPr/>
              <a:t> — no ambient system dependencies</a:t>
            </a:r>
          </a:p>
          <a:p>
            <a:pPr lvl="0"/>
            <a:r>
              <a:rPr b="1"/>
              <a:t>Reproducible</a:t>
            </a:r>
            <a:r>
              <a:rPr/>
              <a:t> — same inputs → same outputs</a:t>
            </a:r>
          </a:p>
          <a:p>
            <a:pPr lvl="0"/>
            <a:r>
              <a:rPr b="1"/>
              <a:t>Cacheable</a:t>
            </a:r>
            <a:r>
              <a:rPr/>
              <a:t> — Nix binary cache for CI</a:t>
            </a:r>
          </a:p>
          <a:p>
            <a:pPr lvl="0"/>
            <a:r>
              <a:rPr b="1"/>
              <a:t>Cross-platform</a:t>
            </a:r>
            <a:r>
              <a:rPr/>
              <a:t> — Linux, macOS, WASM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Impact: Transforming How Teams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Dyna fundamentally changed the SDMF workflow — from fragile single-user editing to robust distributed collaboration.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360×</a:t>
            </a:r>
          </a:p>
          <a:p>
            <a:pPr lvl="0" indent="0" marL="0">
              <a:buNone/>
            </a:pPr>
            <a:r>
              <a:rPr/>
              <a:t>Faster Startup</a:t>
            </a:r>
          </a:p>
          <a:p>
            <a:pPr lvl="0" indent="0" marL="0">
              <a:buNone/>
            </a:pPr>
            <a:r>
              <a:rPr/>
              <a:t>200×</a:t>
            </a:r>
          </a:p>
          <a:p>
            <a:pPr lvl="0" indent="0" marL="0">
              <a:buNone/>
            </a:pPr>
            <a:r>
              <a:rPr/>
              <a:t>Less Memory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100%</a:t>
            </a:r>
          </a:p>
          <a:p>
            <a:pPr lvl="0" indent="0" marL="0">
              <a:buNone/>
            </a:pPr>
            <a:r>
              <a:rPr/>
              <a:t>Audit Trail</a:t>
            </a:r>
          </a:p>
          <a:p>
            <a:pPr lvl="0" indent="0" marL="0">
              <a:buNone/>
            </a:pPr>
            <a:r>
              <a:rPr/>
              <a:t>5</a:t>
            </a:r>
          </a:p>
          <a:p>
            <a:pPr lvl="0" indent="0" marL="0">
              <a:buNone/>
            </a:pPr>
            <a:r>
              <a:rPr/>
              <a:t>Client Languages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Roadmap: What Comes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Near Term</a:t>
            </a:r>
          </a:p>
          <a:p>
            <a:pPr lvl="0"/>
            <a:r>
              <a:rPr b="1"/>
              <a:t>Three-way merge</a:t>
            </a:r>
            <a:r>
              <a:rPr/>
              <a:t> — automatic conflict resolution for non-overlapping edits</a:t>
            </a:r>
          </a:p>
          <a:p>
            <a:pPr lvl="0"/>
            <a:r>
              <a:rPr b="1"/>
              <a:t>Partial namespace sync</a:t>
            </a:r>
            <a:r>
              <a:rPr/>
              <a:t> — subscribe to subsets of the catalog</a:t>
            </a:r>
          </a:p>
          <a:p>
            <a:pPr lvl="0"/>
            <a:r>
              <a:rPr b="1"/>
              <a:t>JSON Schema validation</a:t>
            </a:r>
            <a:r>
              <a:rPr/>
              <a:t> — enforce resource structure at commit time</a:t>
            </a:r>
          </a:p>
          <a:p>
            <a:pPr lvl="0"/>
            <a:r>
              <a:rPr b="1"/>
              <a:t>Incremental materialisation</a:t>
            </a:r>
            <a:r>
              <a:rPr/>
              <a:t> — apply only new patches, skip replayed history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Long Term</a:t>
            </a:r>
          </a:p>
          <a:p>
            <a:pPr lvl="0"/>
            <a:r>
              <a:rPr b="1"/>
              <a:t>Federated catalogs</a:t>
            </a:r>
            <a:r>
              <a:rPr/>
              <a:t> — multi-server sync across organizational boundaries</a:t>
            </a:r>
          </a:p>
          <a:p>
            <a:pPr lvl="0"/>
            <a:r>
              <a:rPr b="1"/>
              <a:t>Conflict resolution UI</a:t>
            </a:r>
            <a:r>
              <a:rPr/>
              <a:t> — visual merge tool in the Elm app</a:t>
            </a:r>
          </a:p>
          <a:p>
            <a:pPr lvl="0"/>
            <a:r>
              <a:rPr b="1"/>
              <a:t>Performance benchmarks</a:t>
            </a:r>
            <a:r>
              <a:rPr/>
              <a:t> — published comparisons of full vs. lazy loading</a:t>
            </a:r>
          </a:p>
          <a:p>
            <a:pPr lvl="0"/>
            <a:r>
              <a:rPr b="1"/>
              <a:t>Branch/merge operations</a:t>
            </a:r>
            <a:r>
              <a:rPr/>
              <a:t> — Git-like workflows with channel promotion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Design Principles Going Forward</a:t>
            </a:r>
          </a:p>
          <a:p>
            <a:pPr lvl="0" indent="0" marL="1270000">
              <a:buNone/>
            </a:pPr>
            <a:r>
              <a:rPr sz="2000"/>
              <a:t>Every feature must preserve the core invariants: immutable changesets, content-addressable storage, and lazy-by-default loading.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Thank You</a:t>
            </a:r>
          </a:p>
          <a:p>
            <a:pPr lvl="0" indent="0" marL="0">
              <a:buNone/>
            </a:pPr>
            <a:r>
              <a:rPr/>
              <a:t>Dyna — Distributed Version Control for Resource Catalogs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i="1"/>
              <a:t>Questions?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Built with Rust · Go · Python · Elm · WebAssembly · Nix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</dc:title>
  <dc:creator>SDMF Engineering</dc:creator>
  <cp:keywords/>
  <dcterms:created xsi:type="dcterms:W3CDTF">2026-03-05T17:16:01Z</dcterms:created>
  <dcterms:modified xsi:type="dcterms:W3CDTF">2026-03-05T17:16:01Z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2025-12-31</vt:lpwstr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subtitle">
    <vt:lpwstr>Distributed Version Control for Resource Catalogs</vt:lpwstr>
  </property>
  <property fmtid="{D5CDD505-2E9C-101B-9397-08002B2CF9AE}" pid="11" name="toc-title">
    <vt:lpwstr>Table of contents</vt:lpwstr>
  </property>
</Properties>
</file>